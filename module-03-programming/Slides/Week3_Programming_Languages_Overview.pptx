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54C2BA-330A-48F6-9F15-6CEC97614C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A4E3CAC-D6F5-4A6D-86A4-1F955E14E239}">
      <dgm:prSet/>
      <dgm:spPr/>
      <dgm:t>
        <a:bodyPr/>
        <a:lstStyle/>
        <a:p>
          <a:r>
            <a:rPr lang="en-US"/>
            <a:t>Python: general-purpose, pipelines, file I/O, ML; Biopython/pandas/scikit-learn</a:t>
          </a:r>
        </a:p>
      </dgm:t>
    </dgm:pt>
    <dgm:pt modelId="{8F2DC1F4-B073-44AF-8BCF-58998F7F1D07}" type="parTrans" cxnId="{DCA6173B-D28E-4D3F-94A1-281DEE11C803}">
      <dgm:prSet/>
      <dgm:spPr/>
      <dgm:t>
        <a:bodyPr/>
        <a:lstStyle/>
        <a:p>
          <a:endParaRPr lang="en-US"/>
        </a:p>
      </dgm:t>
    </dgm:pt>
    <dgm:pt modelId="{477D439F-D4FE-4C91-8D34-DFF91D458A00}" type="sibTrans" cxnId="{DCA6173B-D28E-4D3F-94A1-281DEE11C803}">
      <dgm:prSet/>
      <dgm:spPr/>
      <dgm:t>
        <a:bodyPr/>
        <a:lstStyle/>
        <a:p>
          <a:endParaRPr lang="en-US"/>
        </a:p>
      </dgm:t>
    </dgm:pt>
    <dgm:pt modelId="{C68650DD-7FB9-4AD2-AF1C-4A62A0C5E60B}">
      <dgm:prSet/>
      <dgm:spPr/>
      <dgm:t>
        <a:bodyPr/>
        <a:lstStyle/>
        <a:p>
          <a:r>
            <a:rPr lang="en-US"/>
            <a:t>R: statistics, visualization, genomics; Bioconductor/ggplot2/tidyverse</a:t>
          </a:r>
        </a:p>
      </dgm:t>
    </dgm:pt>
    <dgm:pt modelId="{A84C9DE2-9DE7-4301-B6F2-FCEF37092DDF}" type="parTrans" cxnId="{67CA07F1-EF1B-4D6F-BBB1-C5052BBAF91B}">
      <dgm:prSet/>
      <dgm:spPr/>
      <dgm:t>
        <a:bodyPr/>
        <a:lstStyle/>
        <a:p>
          <a:endParaRPr lang="en-US"/>
        </a:p>
      </dgm:t>
    </dgm:pt>
    <dgm:pt modelId="{E981BE78-1509-4EEE-94A5-E21A6DB56C6E}" type="sibTrans" cxnId="{67CA07F1-EF1B-4D6F-BBB1-C5052BBAF91B}">
      <dgm:prSet/>
      <dgm:spPr/>
      <dgm:t>
        <a:bodyPr/>
        <a:lstStyle/>
        <a:p>
          <a:endParaRPr lang="en-US"/>
        </a:p>
      </dgm:t>
    </dgm:pt>
    <dgm:pt modelId="{D6957BF6-C2CC-4DC3-92BD-98975C8B73D3}">
      <dgm:prSet/>
      <dgm:spPr/>
      <dgm:t>
        <a:bodyPr/>
        <a:lstStyle/>
        <a:p>
          <a:r>
            <a:rPr lang="en-US"/>
            <a:t>Pragmatic use: Bash for glue, Python for scripting, R for stats/plots</a:t>
          </a:r>
        </a:p>
      </dgm:t>
    </dgm:pt>
    <dgm:pt modelId="{7FE7E568-FA9F-474D-993D-DD2859A907EB}" type="parTrans" cxnId="{BCE9B6E8-39C9-4527-9CBC-243055E313F7}">
      <dgm:prSet/>
      <dgm:spPr/>
      <dgm:t>
        <a:bodyPr/>
        <a:lstStyle/>
        <a:p>
          <a:endParaRPr lang="en-US"/>
        </a:p>
      </dgm:t>
    </dgm:pt>
    <dgm:pt modelId="{8C130D40-6828-4FF6-B81A-E83499B2FD47}" type="sibTrans" cxnId="{BCE9B6E8-39C9-4527-9CBC-243055E313F7}">
      <dgm:prSet/>
      <dgm:spPr/>
      <dgm:t>
        <a:bodyPr/>
        <a:lstStyle/>
        <a:p>
          <a:endParaRPr lang="en-US"/>
        </a:p>
      </dgm:t>
    </dgm:pt>
    <dgm:pt modelId="{A25A7622-E99E-4CDB-BA50-B2772F700FD4}" type="pres">
      <dgm:prSet presAssocID="{BF54C2BA-330A-48F6-9F15-6CEC97614C76}" presName="root" presStyleCnt="0">
        <dgm:presLayoutVars>
          <dgm:dir/>
          <dgm:resizeHandles val="exact"/>
        </dgm:presLayoutVars>
      </dgm:prSet>
      <dgm:spPr/>
    </dgm:pt>
    <dgm:pt modelId="{C59B64BD-AB7C-43FD-966D-835F6858121B}" type="pres">
      <dgm:prSet presAssocID="{4A4E3CAC-D6F5-4A6D-86A4-1F955E14E239}" presName="compNode" presStyleCnt="0"/>
      <dgm:spPr/>
    </dgm:pt>
    <dgm:pt modelId="{92B0C809-3E23-47B7-918C-6F1704D18DCA}" type="pres">
      <dgm:prSet presAssocID="{4A4E3CAC-D6F5-4A6D-86A4-1F955E14E239}" presName="bgRect" presStyleLbl="bgShp" presStyleIdx="0" presStyleCnt="3"/>
      <dgm:spPr/>
    </dgm:pt>
    <dgm:pt modelId="{D39D2083-9D8D-48E8-AA65-45A2FAAE49A5}" type="pres">
      <dgm:prSet presAssocID="{4A4E3CAC-D6F5-4A6D-86A4-1F955E14E2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D552F802-A6B5-46DA-BB69-91522267EDE5}" type="pres">
      <dgm:prSet presAssocID="{4A4E3CAC-D6F5-4A6D-86A4-1F955E14E239}" presName="spaceRect" presStyleCnt="0"/>
      <dgm:spPr/>
    </dgm:pt>
    <dgm:pt modelId="{534DA040-DA68-4930-94FB-793B06BD975C}" type="pres">
      <dgm:prSet presAssocID="{4A4E3CAC-D6F5-4A6D-86A4-1F955E14E239}" presName="parTx" presStyleLbl="revTx" presStyleIdx="0" presStyleCnt="3">
        <dgm:presLayoutVars>
          <dgm:chMax val="0"/>
          <dgm:chPref val="0"/>
        </dgm:presLayoutVars>
      </dgm:prSet>
      <dgm:spPr/>
    </dgm:pt>
    <dgm:pt modelId="{63D155C6-9348-4C48-BD53-0E8F3ACE2AC4}" type="pres">
      <dgm:prSet presAssocID="{477D439F-D4FE-4C91-8D34-DFF91D458A00}" presName="sibTrans" presStyleCnt="0"/>
      <dgm:spPr/>
    </dgm:pt>
    <dgm:pt modelId="{170765F3-182B-4DBA-B5B8-FE24BED61B84}" type="pres">
      <dgm:prSet presAssocID="{C68650DD-7FB9-4AD2-AF1C-4A62A0C5E60B}" presName="compNode" presStyleCnt="0"/>
      <dgm:spPr/>
    </dgm:pt>
    <dgm:pt modelId="{37815D72-FA0C-4825-B8E7-5570485B629B}" type="pres">
      <dgm:prSet presAssocID="{C68650DD-7FB9-4AD2-AF1C-4A62A0C5E60B}" presName="bgRect" presStyleLbl="bgShp" presStyleIdx="1" presStyleCnt="3"/>
      <dgm:spPr/>
    </dgm:pt>
    <dgm:pt modelId="{02711612-5D62-41C5-BB10-883A9DE99237}" type="pres">
      <dgm:prSet presAssocID="{C68650DD-7FB9-4AD2-AF1C-4A62A0C5E6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9CA6AF2-A30E-4F9C-A18E-72A06CE3F9C3}" type="pres">
      <dgm:prSet presAssocID="{C68650DD-7FB9-4AD2-AF1C-4A62A0C5E60B}" presName="spaceRect" presStyleCnt="0"/>
      <dgm:spPr/>
    </dgm:pt>
    <dgm:pt modelId="{64532443-654A-4D0C-B217-8183AD73AA2B}" type="pres">
      <dgm:prSet presAssocID="{C68650DD-7FB9-4AD2-AF1C-4A62A0C5E60B}" presName="parTx" presStyleLbl="revTx" presStyleIdx="1" presStyleCnt="3">
        <dgm:presLayoutVars>
          <dgm:chMax val="0"/>
          <dgm:chPref val="0"/>
        </dgm:presLayoutVars>
      </dgm:prSet>
      <dgm:spPr/>
    </dgm:pt>
    <dgm:pt modelId="{7B693269-987D-4B5C-A624-BE1F61B2D384}" type="pres">
      <dgm:prSet presAssocID="{E981BE78-1509-4EEE-94A5-E21A6DB56C6E}" presName="sibTrans" presStyleCnt="0"/>
      <dgm:spPr/>
    </dgm:pt>
    <dgm:pt modelId="{E6BCC16B-79F4-4BF6-AD44-60565E96CFDE}" type="pres">
      <dgm:prSet presAssocID="{D6957BF6-C2CC-4DC3-92BD-98975C8B73D3}" presName="compNode" presStyleCnt="0"/>
      <dgm:spPr/>
    </dgm:pt>
    <dgm:pt modelId="{1AFE0E40-DC20-45F0-9177-46EA457B6589}" type="pres">
      <dgm:prSet presAssocID="{D6957BF6-C2CC-4DC3-92BD-98975C8B73D3}" presName="bgRect" presStyleLbl="bgShp" presStyleIdx="2" presStyleCnt="3"/>
      <dgm:spPr/>
    </dgm:pt>
    <dgm:pt modelId="{C5CADCC5-EF1C-49F0-BD37-E63CA512E7CC}" type="pres">
      <dgm:prSet presAssocID="{D6957BF6-C2CC-4DC3-92BD-98975C8B73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F6358338-A5D1-477E-8999-6FE35A348406}" type="pres">
      <dgm:prSet presAssocID="{D6957BF6-C2CC-4DC3-92BD-98975C8B73D3}" presName="spaceRect" presStyleCnt="0"/>
      <dgm:spPr/>
    </dgm:pt>
    <dgm:pt modelId="{00F842AC-2AC1-4664-BFB9-C0EDF03172D8}" type="pres">
      <dgm:prSet presAssocID="{D6957BF6-C2CC-4DC3-92BD-98975C8B73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D9A1123-89FC-47E2-A6CD-7622176CAF50}" type="presOf" srcId="{4A4E3CAC-D6F5-4A6D-86A4-1F955E14E239}" destId="{534DA040-DA68-4930-94FB-793B06BD975C}" srcOrd="0" destOrd="0" presId="urn:microsoft.com/office/officeart/2018/2/layout/IconVerticalSolidList"/>
    <dgm:cxn modelId="{DCA6173B-D28E-4D3F-94A1-281DEE11C803}" srcId="{BF54C2BA-330A-48F6-9F15-6CEC97614C76}" destId="{4A4E3CAC-D6F5-4A6D-86A4-1F955E14E239}" srcOrd="0" destOrd="0" parTransId="{8F2DC1F4-B073-44AF-8BCF-58998F7F1D07}" sibTransId="{477D439F-D4FE-4C91-8D34-DFF91D458A00}"/>
    <dgm:cxn modelId="{49BBF155-3275-416F-B6A8-D39389AA5E9D}" type="presOf" srcId="{C68650DD-7FB9-4AD2-AF1C-4A62A0C5E60B}" destId="{64532443-654A-4D0C-B217-8183AD73AA2B}" srcOrd="0" destOrd="0" presId="urn:microsoft.com/office/officeart/2018/2/layout/IconVerticalSolidList"/>
    <dgm:cxn modelId="{B6A7E584-E328-444E-8BC6-64AD469D9CB0}" type="presOf" srcId="{BF54C2BA-330A-48F6-9F15-6CEC97614C76}" destId="{A25A7622-E99E-4CDB-BA50-B2772F700FD4}" srcOrd="0" destOrd="0" presId="urn:microsoft.com/office/officeart/2018/2/layout/IconVerticalSolidList"/>
    <dgm:cxn modelId="{F7B1F69F-5BC6-4824-93FE-185A6E187168}" type="presOf" srcId="{D6957BF6-C2CC-4DC3-92BD-98975C8B73D3}" destId="{00F842AC-2AC1-4664-BFB9-C0EDF03172D8}" srcOrd="0" destOrd="0" presId="urn:microsoft.com/office/officeart/2018/2/layout/IconVerticalSolidList"/>
    <dgm:cxn modelId="{BCE9B6E8-39C9-4527-9CBC-243055E313F7}" srcId="{BF54C2BA-330A-48F6-9F15-6CEC97614C76}" destId="{D6957BF6-C2CC-4DC3-92BD-98975C8B73D3}" srcOrd="2" destOrd="0" parTransId="{7FE7E568-FA9F-474D-993D-DD2859A907EB}" sibTransId="{8C130D40-6828-4FF6-B81A-E83499B2FD47}"/>
    <dgm:cxn modelId="{67CA07F1-EF1B-4D6F-BBB1-C5052BBAF91B}" srcId="{BF54C2BA-330A-48F6-9F15-6CEC97614C76}" destId="{C68650DD-7FB9-4AD2-AF1C-4A62A0C5E60B}" srcOrd="1" destOrd="0" parTransId="{A84C9DE2-9DE7-4301-B6F2-FCEF37092DDF}" sibTransId="{E981BE78-1509-4EEE-94A5-E21A6DB56C6E}"/>
    <dgm:cxn modelId="{81324AC2-AE4B-4B1F-BBE8-5B94A45B6BC4}" type="presParOf" srcId="{A25A7622-E99E-4CDB-BA50-B2772F700FD4}" destId="{C59B64BD-AB7C-43FD-966D-835F6858121B}" srcOrd="0" destOrd="0" presId="urn:microsoft.com/office/officeart/2018/2/layout/IconVerticalSolidList"/>
    <dgm:cxn modelId="{E05247E5-6EB7-4B51-8ED2-0C8AF6DD2868}" type="presParOf" srcId="{C59B64BD-AB7C-43FD-966D-835F6858121B}" destId="{92B0C809-3E23-47B7-918C-6F1704D18DCA}" srcOrd="0" destOrd="0" presId="urn:microsoft.com/office/officeart/2018/2/layout/IconVerticalSolidList"/>
    <dgm:cxn modelId="{4199F172-4A9C-4247-9E3E-9181D18A7528}" type="presParOf" srcId="{C59B64BD-AB7C-43FD-966D-835F6858121B}" destId="{D39D2083-9D8D-48E8-AA65-45A2FAAE49A5}" srcOrd="1" destOrd="0" presId="urn:microsoft.com/office/officeart/2018/2/layout/IconVerticalSolidList"/>
    <dgm:cxn modelId="{08C8B6AA-2B27-423A-A9F0-25B001AB8DBA}" type="presParOf" srcId="{C59B64BD-AB7C-43FD-966D-835F6858121B}" destId="{D552F802-A6B5-46DA-BB69-91522267EDE5}" srcOrd="2" destOrd="0" presId="urn:microsoft.com/office/officeart/2018/2/layout/IconVerticalSolidList"/>
    <dgm:cxn modelId="{2941FAA1-B1F2-4DC7-B8A5-37EB0EF487FF}" type="presParOf" srcId="{C59B64BD-AB7C-43FD-966D-835F6858121B}" destId="{534DA040-DA68-4930-94FB-793B06BD975C}" srcOrd="3" destOrd="0" presId="urn:microsoft.com/office/officeart/2018/2/layout/IconVerticalSolidList"/>
    <dgm:cxn modelId="{73ABCC7E-1768-4EE5-BC16-6344F5C93AA7}" type="presParOf" srcId="{A25A7622-E99E-4CDB-BA50-B2772F700FD4}" destId="{63D155C6-9348-4C48-BD53-0E8F3ACE2AC4}" srcOrd="1" destOrd="0" presId="urn:microsoft.com/office/officeart/2018/2/layout/IconVerticalSolidList"/>
    <dgm:cxn modelId="{DF4B84C2-4CBE-44A3-AC55-93EB9C1728AD}" type="presParOf" srcId="{A25A7622-E99E-4CDB-BA50-B2772F700FD4}" destId="{170765F3-182B-4DBA-B5B8-FE24BED61B84}" srcOrd="2" destOrd="0" presId="urn:microsoft.com/office/officeart/2018/2/layout/IconVerticalSolidList"/>
    <dgm:cxn modelId="{BFBC6309-FCAE-445C-B62D-10F26F45B18E}" type="presParOf" srcId="{170765F3-182B-4DBA-B5B8-FE24BED61B84}" destId="{37815D72-FA0C-4825-B8E7-5570485B629B}" srcOrd="0" destOrd="0" presId="urn:microsoft.com/office/officeart/2018/2/layout/IconVerticalSolidList"/>
    <dgm:cxn modelId="{E5A33D36-6485-44B3-8E30-594A8E2CC908}" type="presParOf" srcId="{170765F3-182B-4DBA-B5B8-FE24BED61B84}" destId="{02711612-5D62-41C5-BB10-883A9DE99237}" srcOrd="1" destOrd="0" presId="urn:microsoft.com/office/officeart/2018/2/layout/IconVerticalSolidList"/>
    <dgm:cxn modelId="{358D2E68-5F30-4F7E-8DBD-DCB73DCAB033}" type="presParOf" srcId="{170765F3-182B-4DBA-B5B8-FE24BED61B84}" destId="{79CA6AF2-A30E-4F9C-A18E-72A06CE3F9C3}" srcOrd="2" destOrd="0" presId="urn:microsoft.com/office/officeart/2018/2/layout/IconVerticalSolidList"/>
    <dgm:cxn modelId="{F8B014E7-97A1-4B95-BC7A-B8960D5FA429}" type="presParOf" srcId="{170765F3-182B-4DBA-B5B8-FE24BED61B84}" destId="{64532443-654A-4D0C-B217-8183AD73AA2B}" srcOrd="3" destOrd="0" presId="urn:microsoft.com/office/officeart/2018/2/layout/IconVerticalSolidList"/>
    <dgm:cxn modelId="{7515A170-18DD-4BC3-86AF-5F8DF2F687FC}" type="presParOf" srcId="{A25A7622-E99E-4CDB-BA50-B2772F700FD4}" destId="{7B693269-987D-4B5C-A624-BE1F61B2D384}" srcOrd="3" destOrd="0" presId="urn:microsoft.com/office/officeart/2018/2/layout/IconVerticalSolidList"/>
    <dgm:cxn modelId="{5DB870C6-EC80-476C-8A8E-091021FCC674}" type="presParOf" srcId="{A25A7622-E99E-4CDB-BA50-B2772F700FD4}" destId="{E6BCC16B-79F4-4BF6-AD44-60565E96CFDE}" srcOrd="4" destOrd="0" presId="urn:microsoft.com/office/officeart/2018/2/layout/IconVerticalSolidList"/>
    <dgm:cxn modelId="{9C03BD7C-EBEC-4A22-AA5E-E84EE5DB3381}" type="presParOf" srcId="{E6BCC16B-79F4-4BF6-AD44-60565E96CFDE}" destId="{1AFE0E40-DC20-45F0-9177-46EA457B6589}" srcOrd="0" destOrd="0" presId="urn:microsoft.com/office/officeart/2018/2/layout/IconVerticalSolidList"/>
    <dgm:cxn modelId="{BF722E83-09B4-408A-A467-C8F520B00836}" type="presParOf" srcId="{E6BCC16B-79F4-4BF6-AD44-60565E96CFDE}" destId="{C5CADCC5-EF1C-49F0-BD37-E63CA512E7CC}" srcOrd="1" destOrd="0" presId="urn:microsoft.com/office/officeart/2018/2/layout/IconVerticalSolidList"/>
    <dgm:cxn modelId="{62E3E603-75CC-4814-9C2C-584200D7F50E}" type="presParOf" srcId="{E6BCC16B-79F4-4BF6-AD44-60565E96CFDE}" destId="{F6358338-A5D1-477E-8999-6FE35A348406}" srcOrd="2" destOrd="0" presId="urn:microsoft.com/office/officeart/2018/2/layout/IconVerticalSolidList"/>
    <dgm:cxn modelId="{1CB90BC1-E804-4112-A798-82CDE93CD01B}" type="presParOf" srcId="{E6BCC16B-79F4-4BF6-AD44-60565E96CFDE}" destId="{00F842AC-2AC1-4664-BFB9-C0EDF03172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0C809-3E23-47B7-918C-6F1704D18DCA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D2083-9D8D-48E8-AA65-45A2FAAE49A5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DA040-DA68-4930-94FB-793B06BD975C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Python: general-purpose, pipelines, file I/O, ML; Biopython/pandas/scikit-learn</a:t>
          </a:r>
        </a:p>
      </dsp:txBody>
      <dsp:txXfrm>
        <a:off x="1437631" y="531"/>
        <a:ext cx="6449068" cy="1244702"/>
      </dsp:txXfrm>
    </dsp:sp>
    <dsp:sp modelId="{37815D72-FA0C-4825-B8E7-5570485B629B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11612-5D62-41C5-BB10-883A9DE99237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32443-654A-4D0C-B217-8183AD73AA2B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R: statistics, visualization, genomics; Bioconductor/ggplot2/tidyverse</a:t>
          </a:r>
        </a:p>
      </dsp:txBody>
      <dsp:txXfrm>
        <a:off x="1437631" y="1556410"/>
        <a:ext cx="6449068" cy="1244702"/>
      </dsp:txXfrm>
    </dsp:sp>
    <dsp:sp modelId="{1AFE0E40-DC20-45F0-9177-46EA457B6589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ADCC5-EF1C-49F0-BD37-E63CA512E7CC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842AC-2AC1-4664-BFB9-C0EDF03172D8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Pragmatic use: Bash for glue, Python for scripting, R for stats/plots</a:t>
          </a:r>
        </a:p>
      </dsp:txBody>
      <dsp:txXfrm>
        <a:off x="1437631" y="3112289"/>
        <a:ext cx="64490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D579D-8A64-9B49-8D4E-B465A652177D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EC2A-E87A-E44B-B026-98A8DD5AD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0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pwd, ls, cd, mkdir, mv.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Ecosystems and typical bioinformatics use-cases.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set -euo pipefail for safer scripting.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_R1/_R2 convention and globbing.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4-line FASTQ structure and streaming for large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clear comments and reproducible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200">
                <a:solidFill>
                  <a:srgbClr val="FFFFFF"/>
                </a:solidFill>
              </a:rPr>
              <a:t>Week 3: Programming Languages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/>
              <a:t>Bash · Python · R | Bioinformatics essentials (2 hours)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Bash Scripting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/>
              <a:t>Shell basics: run commands, manage files, automate tasks</a:t>
            </a:r>
          </a:p>
          <a:p>
            <a:pPr>
              <a:defRPr sz="1800"/>
            </a:pPr>
            <a:r>
              <a:rPr lang="en-GB" sz="1700"/>
              <a:t>Scripts: shebang (#!/usr/bin/env bash), chmod +x, run</a:t>
            </a:r>
          </a:p>
          <a:p>
            <a:pPr>
              <a:defRPr sz="1800"/>
            </a:pPr>
            <a:r>
              <a:rPr lang="en-GB" sz="1700"/>
              <a:t>Variables, quoting, globbing (*.fastq.gz), exit codes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GB"/>
              <a:t>Python vs R for Bioinformatics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3958A24-9A55-8F61-0F6A-3C0F8487D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21617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Types and Variables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2" y="963507"/>
            <a:ext cx="4688205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Python: int, float, str, bool, list, dict; assignment/printing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R: vectors, factors, data.frames; quick summaries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Minimal types needed to read files and compute simple 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# Python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x = 5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name = 'sample1'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lengths = [100, 101, 99]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print(len(lengths), sum(lengths)/len(lengths))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endParaRPr lang="en-US" sz="12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# 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reads &lt;- c(980, 1020, 1105)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mean(reads)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First Bash Script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2" y="963507"/>
            <a:ext cx="4688205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Create, save, and run a minimal script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Shows shebang, variable, echo, exit code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/>
              <a:t>Build confidence for file organization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700" dirty="0"/>
              <a:t>#!/</a:t>
            </a:r>
            <a:r>
              <a:rPr lang="en-US" sz="1700" dirty="0" err="1"/>
              <a:t>usr</a:t>
            </a:r>
            <a:r>
              <a:rPr lang="en-US" sz="1700" dirty="0"/>
              <a:t>/bin/env bash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700" dirty="0"/>
              <a:t>set -</a:t>
            </a:r>
            <a:r>
              <a:rPr lang="en-US" sz="1700" dirty="0" err="1"/>
              <a:t>euo</a:t>
            </a:r>
            <a:r>
              <a:rPr lang="en-US" sz="1700" dirty="0"/>
              <a:t> </a:t>
            </a:r>
            <a:r>
              <a:rPr lang="en-US" sz="1700" dirty="0" err="1"/>
              <a:t>pipefail</a:t>
            </a: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700" dirty="0"/>
              <a:t>msg="Hello, Bioinformatics!"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700" dirty="0"/>
              <a:t>echo "$msg"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700" dirty="0"/>
              <a:t>echo "Current directory: $(</a:t>
            </a:r>
            <a:r>
              <a:rPr lang="en-US" sz="1700" dirty="0" err="1"/>
              <a:t>pwd</a:t>
            </a:r>
            <a:r>
              <a:rPr lang="en-US" sz="1700" dirty="0"/>
              <a:t>)"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Organize FASTQ with Bash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1" y="320040"/>
            <a:ext cx="4688205" cy="13552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Group *.</a:t>
            </a:r>
            <a:r>
              <a:rPr lang="en-US" sz="1700" dirty="0" err="1"/>
              <a:t>fastq.gz</a:t>
            </a:r>
            <a:r>
              <a:rPr lang="en-US" sz="1700" dirty="0"/>
              <a:t> by sample prefix before _R1/_R2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Create per-sample folders and move files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Works with *.</a:t>
            </a:r>
            <a:r>
              <a:rPr lang="en-US" sz="1700" dirty="0" err="1"/>
              <a:t>fastq.gz</a:t>
            </a:r>
            <a:r>
              <a:rPr lang="en-US" sz="1700" dirty="0"/>
              <a:t> and *.</a:t>
            </a:r>
            <a:r>
              <a:rPr lang="en-US" sz="1700" dirty="0" err="1"/>
              <a:t>fq.gz</a:t>
            </a:r>
            <a:endParaRPr lang="en-US" sz="1700" dirty="0"/>
          </a:p>
        </p:txBody>
      </p:sp>
      <p:sp>
        <p:nvSpPr>
          <p:cNvPr id="4" name="TextBox 3"/>
          <p:cNvSpPr txBox="1"/>
          <p:nvPr/>
        </p:nvSpPr>
        <p:spPr>
          <a:xfrm>
            <a:off x="3827145" y="2057400"/>
            <a:ext cx="4938481" cy="4290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#!/</a:t>
            </a:r>
            <a:r>
              <a:rPr lang="en-US" sz="1600" dirty="0" err="1"/>
              <a:t>usr</a:t>
            </a:r>
            <a:r>
              <a:rPr lang="en-US" sz="1600" dirty="0"/>
              <a:t>/bin/env bash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set -</a:t>
            </a:r>
            <a:r>
              <a:rPr lang="en-US" sz="1600" dirty="0" err="1"/>
              <a:t>euo</a:t>
            </a:r>
            <a:r>
              <a:rPr lang="en-US" sz="1600" dirty="0"/>
              <a:t> </a:t>
            </a:r>
            <a:r>
              <a:rPr lang="en-US" sz="1600" dirty="0" err="1"/>
              <a:t>pipefail</a:t>
            </a: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 err="1"/>
              <a:t>shopt</a:t>
            </a:r>
            <a:r>
              <a:rPr lang="en-US" sz="1600" dirty="0"/>
              <a:t> -s </a:t>
            </a:r>
            <a:r>
              <a:rPr lang="en-US" sz="1600" dirty="0" err="1"/>
              <a:t>nullglob</a:t>
            </a: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 err="1"/>
              <a:t>mkdir</a:t>
            </a:r>
            <a:r>
              <a:rPr lang="en-US" sz="1600" dirty="0"/>
              <a:t> -p data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moved=0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for f in *.</a:t>
            </a:r>
            <a:r>
              <a:rPr lang="en-US" sz="1600" dirty="0" err="1"/>
              <a:t>fastq.gz</a:t>
            </a:r>
            <a:r>
              <a:rPr lang="en-US" sz="1600" dirty="0"/>
              <a:t> *.</a:t>
            </a:r>
            <a:r>
              <a:rPr lang="en-US" sz="1600" dirty="0" err="1"/>
              <a:t>fq.gz</a:t>
            </a:r>
            <a:r>
              <a:rPr lang="en-US" sz="1600" dirty="0"/>
              <a:t>; do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  base=$(</a:t>
            </a:r>
            <a:r>
              <a:rPr lang="en-US" sz="1600" dirty="0" err="1"/>
              <a:t>basename</a:t>
            </a:r>
            <a:r>
              <a:rPr lang="en-US" sz="1600" dirty="0"/>
              <a:t> "$f")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  sample="${base%%_R[12]*}"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  </a:t>
            </a:r>
            <a:r>
              <a:rPr lang="en-US" sz="1600" dirty="0" err="1"/>
              <a:t>mkdir</a:t>
            </a:r>
            <a:r>
              <a:rPr lang="en-US" sz="1600" dirty="0"/>
              <a:t> -p "data/$sample"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  mv "$f" "data/$sample/"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  echo "Moved $base -&gt; data/$sample/"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  moved=$((moved+1))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done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600" dirty="0"/>
              <a:t>echo "Done. Files moved: $moved"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93" y="1019424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329" y="1871109"/>
            <a:ext cx="4890894" cy="104190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Variables, lists, </a:t>
            </a:r>
            <a:r>
              <a:rPr lang="en-US" sz="1700" dirty="0" err="1"/>
              <a:t>dicts</a:t>
            </a:r>
            <a:r>
              <a:rPr lang="en-US" sz="1700" dirty="0"/>
              <a:t>, loops, functions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Readable syntax, quick iteration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Preparation for streaming 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330" y="3026980"/>
            <a:ext cx="7525318" cy="2374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400" dirty="0"/>
              <a:t>def summarize(lengths):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400" dirty="0"/>
              <a:t>    n = </a:t>
            </a:r>
            <a:r>
              <a:rPr lang="en-US" sz="1400" dirty="0" err="1"/>
              <a:t>len</a:t>
            </a:r>
            <a:r>
              <a:rPr lang="en-US" sz="1400" dirty="0"/>
              <a:t>(lengths)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400" dirty="0"/>
              <a:t>    return n, min(lengths), max(lengths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400" dirty="0"/>
              <a:t>lengths = [100, 101, 99, 100]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1400" dirty="0"/>
              <a:t>print(summarize(lengths))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015" y="767879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FASTQ: Count +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193" y="1587151"/>
            <a:ext cx="7708392" cy="94173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Stream FASTQ in 4-line records: header, sequence, plus, quality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Count reads and compute length statistics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Save histogram plot (matplotlib) as 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193" y="2848912"/>
            <a:ext cx="3912117" cy="2699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# FASTQ statistics with </a:t>
            </a:r>
            <a:r>
              <a:rPr lang="en-US" sz="800" dirty="0" err="1"/>
              <a:t>readlines</a:t>
            </a:r>
            <a:r>
              <a:rPr lang="en-US" sz="800" dirty="0"/>
              <a:t>()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with open("</a:t>
            </a:r>
            <a:r>
              <a:rPr lang="en-US" sz="800" dirty="0" err="1"/>
              <a:t>reads.fastq</a:t>
            </a:r>
            <a:r>
              <a:rPr lang="en-US" sz="800" dirty="0"/>
              <a:t>", "r") as file: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lines = </a:t>
            </a:r>
            <a:r>
              <a:rPr lang="en-US" sz="800" dirty="0" err="1"/>
              <a:t>file.readlines</a:t>
            </a:r>
            <a:r>
              <a:rPr lang="en-US" sz="800" dirty="0"/>
              <a:t>()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 err="1"/>
              <a:t>read_count</a:t>
            </a:r>
            <a:r>
              <a:rPr lang="en-US" sz="800" dirty="0"/>
              <a:t> = 0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lengths = []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endParaRPr lang="en-US" sz="8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for </a:t>
            </a:r>
            <a:r>
              <a:rPr lang="en-US" sz="800" dirty="0" err="1"/>
              <a:t>i</a:t>
            </a:r>
            <a:r>
              <a:rPr lang="en-US" sz="800" dirty="0"/>
              <a:t> in range(0, </a:t>
            </a:r>
            <a:r>
              <a:rPr lang="en-US" sz="800" dirty="0" err="1"/>
              <a:t>len</a:t>
            </a:r>
            <a:r>
              <a:rPr lang="en-US" sz="800" dirty="0"/>
              <a:t>(lines), 4):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if </a:t>
            </a:r>
            <a:r>
              <a:rPr lang="en-US" sz="800" dirty="0" err="1"/>
              <a:t>i</a:t>
            </a:r>
            <a:r>
              <a:rPr lang="en-US" sz="800" dirty="0"/>
              <a:t> + 1 &lt; </a:t>
            </a:r>
            <a:r>
              <a:rPr lang="en-US" sz="800" dirty="0" err="1"/>
              <a:t>len</a:t>
            </a:r>
            <a:r>
              <a:rPr lang="en-US" sz="800" dirty="0"/>
              <a:t>(lines):  # Make sure we have sequence line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    sequence = lines[i+1].strip()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    </a:t>
            </a:r>
            <a:r>
              <a:rPr lang="en-US" sz="800" dirty="0" err="1"/>
              <a:t>read_count</a:t>
            </a:r>
            <a:r>
              <a:rPr lang="en-US" sz="800" dirty="0"/>
              <a:t> += 1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    </a:t>
            </a:r>
            <a:r>
              <a:rPr lang="en-US" sz="800" dirty="0" err="1"/>
              <a:t>lengths.append</a:t>
            </a:r>
            <a:r>
              <a:rPr lang="en-US" sz="800" dirty="0"/>
              <a:t>(</a:t>
            </a:r>
            <a:r>
              <a:rPr lang="en-US" sz="800" dirty="0" err="1"/>
              <a:t>len</a:t>
            </a:r>
            <a:r>
              <a:rPr lang="en-US" sz="800" dirty="0"/>
              <a:t>(sequence))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1A695-3A53-907C-675A-B8D837165A6E}"/>
              </a:ext>
            </a:extLst>
          </p:cNvPr>
          <p:cNvSpPr txBox="1"/>
          <p:nvPr/>
        </p:nvSpPr>
        <p:spPr>
          <a:xfrm>
            <a:off x="5118538" y="2627586"/>
            <a:ext cx="3216165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endParaRPr lang="en-US" sz="8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# Calculate statistics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if lengths: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</a:t>
            </a:r>
            <a:r>
              <a:rPr lang="en-US" sz="800" dirty="0" err="1"/>
              <a:t>min_len</a:t>
            </a:r>
            <a:r>
              <a:rPr lang="en-US" sz="800" dirty="0"/>
              <a:t> = min(lengths)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</a:t>
            </a:r>
            <a:r>
              <a:rPr lang="en-US" sz="800" dirty="0" err="1"/>
              <a:t>max_len</a:t>
            </a:r>
            <a:r>
              <a:rPr lang="en-US" sz="800" dirty="0"/>
              <a:t> = max(lengths)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</a:t>
            </a:r>
            <a:r>
              <a:rPr lang="en-US" sz="800" dirty="0" err="1"/>
              <a:t>avg_len</a:t>
            </a:r>
            <a:r>
              <a:rPr lang="en-US" sz="800" dirty="0"/>
              <a:t> = sum(lengths) / </a:t>
            </a:r>
            <a:r>
              <a:rPr lang="en-US" sz="800" dirty="0" err="1"/>
              <a:t>len</a:t>
            </a:r>
            <a:r>
              <a:rPr lang="en-US" sz="800" dirty="0"/>
              <a:t>(lengths)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print(</a:t>
            </a:r>
            <a:r>
              <a:rPr lang="en-US" sz="800" dirty="0" err="1"/>
              <a:t>f"Reads</a:t>
            </a:r>
            <a:r>
              <a:rPr lang="en-US" sz="800" dirty="0"/>
              <a:t>: {</a:t>
            </a:r>
            <a:r>
              <a:rPr lang="en-US" sz="800" dirty="0" err="1"/>
              <a:t>read_count</a:t>
            </a:r>
            <a:r>
              <a:rPr lang="en-US" sz="800" dirty="0"/>
              <a:t>}")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print(</a:t>
            </a:r>
            <a:r>
              <a:rPr lang="en-US" sz="800" dirty="0" err="1"/>
              <a:t>f"Min</a:t>
            </a:r>
            <a:r>
              <a:rPr lang="en-US" sz="800" dirty="0"/>
              <a:t> length: {</a:t>
            </a:r>
            <a:r>
              <a:rPr lang="en-US" sz="800" dirty="0" err="1"/>
              <a:t>min_len</a:t>
            </a:r>
            <a:r>
              <a:rPr lang="en-US" sz="800" dirty="0"/>
              <a:t>}")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print(</a:t>
            </a:r>
            <a:r>
              <a:rPr lang="en-US" sz="800" dirty="0" err="1"/>
              <a:t>f"Max</a:t>
            </a:r>
            <a:r>
              <a:rPr lang="en-US" sz="800" dirty="0"/>
              <a:t> length: {</a:t>
            </a:r>
            <a:r>
              <a:rPr lang="en-US" sz="800" dirty="0" err="1"/>
              <a:t>max_len</a:t>
            </a:r>
            <a:r>
              <a:rPr lang="en-US" sz="800" dirty="0"/>
              <a:t>}")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print(</a:t>
            </a:r>
            <a:r>
              <a:rPr lang="en-US" sz="800" dirty="0" err="1"/>
              <a:t>f"Average</a:t>
            </a:r>
            <a:r>
              <a:rPr lang="en-US" sz="800" dirty="0"/>
              <a:t> length: {avg_len:.1f}")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else: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    print("No reads found!")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endParaRPr lang="en-US" sz="8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latin typeface="Courier New"/>
              </a:defRPr>
            </a:pPr>
            <a:r>
              <a:rPr lang="en-US" sz="800" dirty="0"/>
              <a:t># Usage: python </a:t>
            </a:r>
            <a:r>
              <a:rPr lang="en-US" sz="800" dirty="0" err="1"/>
              <a:t>count_fastq.py</a:t>
            </a:r>
            <a:r>
              <a:rPr lang="en-US" sz="800" dirty="0"/>
              <a:t> </a:t>
            </a:r>
            <a:r>
              <a:rPr lang="en-US" sz="800" dirty="0" err="1"/>
              <a:t>reads.fastq.gz</a:t>
            </a:r>
            <a:endParaRPr lang="en-US" sz="800" dirty="0"/>
          </a:p>
          <a:p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92" y="1444741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492" y="2701427"/>
            <a:ext cx="3362493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Bash: organize FASTQ/FASTQ.GZ into per-sample folders; print summary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Python: count reads; min/max/mean length; save histogram PNG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/>
            </a:pPr>
            <a:r>
              <a:rPr lang="en-US" sz="1700" dirty="0"/>
              <a:t>Deliverables: Bash script, Python script, PNG plot, brief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2015" y="2701427"/>
            <a:ext cx="341587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# Example Bash usage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Bash </a:t>
            </a:r>
            <a:r>
              <a:rPr lang="en-US" sz="900" dirty="0" err="1"/>
              <a:t>organize_fastq.sh</a:t>
            </a:r>
            <a:endParaRPr lang="en-US" sz="9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endParaRPr lang="en-US" sz="9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# Example Python usage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python </a:t>
            </a:r>
            <a:r>
              <a:rPr lang="en-US" sz="900" dirty="0" err="1"/>
              <a:t>count_fastq.py</a:t>
            </a:r>
            <a:r>
              <a:rPr lang="en-US" sz="900" dirty="0"/>
              <a:t> </a:t>
            </a:r>
            <a:r>
              <a:rPr lang="en-US" sz="900" dirty="0" err="1"/>
              <a:t>reads.fastq.gz</a:t>
            </a:r>
            <a:endParaRPr lang="en-US" sz="9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endParaRPr lang="en-US" sz="9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# Expected outputs: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# - data/sample1/sample1_R1.fastq.gz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# - data/sample1/sample1_R2.fastq.gz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900" dirty="0"/>
              <a:t># - </a:t>
            </a:r>
            <a:r>
              <a:rPr lang="en-US" sz="900" dirty="0" err="1"/>
              <a:t>read_length_hist.png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852</Words>
  <Application>Microsoft Macintosh PowerPoint</Application>
  <PresentationFormat>On-screen Show (4:3)</PresentationFormat>
  <Paragraphs>111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Week 3: Programming Languages Overview</vt:lpstr>
      <vt:lpstr>Bash Scripting Essentials</vt:lpstr>
      <vt:lpstr>Python vs R for Bioinformatics</vt:lpstr>
      <vt:lpstr>Data Types and Variables</vt:lpstr>
      <vt:lpstr>First Bash Script</vt:lpstr>
      <vt:lpstr>Organize FASTQ with Bash</vt:lpstr>
      <vt:lpstr>Python Basics</vt:lpstr>
      <vt:lpstr>Python FASTQ: Count + Plot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Subham Verma</cp:lastModifiedBy>
  <cp:revision>2</cp:revision>
  <dcterms:created xsi:type="dcterms:W3CDTF">2013-01-27T09:14:16Z</dcterms:created>
  <dcterms:modified xsi:type="dcterms:W3CDTF">2025-09-29T17:56:32Z</dcterms:modified>
  <cp:category/>
</cp:coreProperties>
</file>